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9" r:id="rId3"/>
    <p:sldId id="260" r:id="rId4"/>
    <p:sldId id="293" r:id="rId5"/>
    <p:sldId id="281" r:id="rId6"/>
    <p:sldId id="262" r:id="rId7"/>
    <p:sldId id="270" r:id="rId8"/>
    <p:sldId id="271" r:id="rId9"/>
    <p:sldId id="272" r:id="rId10"/>
    <p:sldId id="288" r:id="rId11"/>
    <p:sldId id="273" r:id="rId12"/>
    <p:sldId id="274" r:id="rId13"/>
    <p:sldId id="276" r:id="rId14"/>
    <p:sldId id="292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28C37-F935-472F-AD4C-82D884996360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11231-6274-4249-ACAF-3C3FBB075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2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how the user starts and how the About screen describes the product. Clarify whether these are design screens or running app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account creation, password validation, email login and biometric login only if those paths work in the current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E1A30-8D9C-58D9-01E0-74E9646EA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296CC-B859-D63D-D8BC-D4504348D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2E2AF-8F16-A72F-0281-2CD612CCF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account creation, password validation, email login and biometric login only if those paths work in the current application.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D57B-5089-AEB8-6DEF-37FA3DF522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3403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application names and comparison observations summarize the proposal deck supplied by the PM. Original proposal slides follow for detailed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actor and the user goals shown. Connect each major use case to the actual screen and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form entry, validation, account creation, success and retry paths. Point out any backend work that remains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reset link flow and show the current behavior in the app. Use a generic response so the interface does not disclose whether an account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3E47-0545-7DDB-700C-47E1ACDE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AA632-F717-6623-6014-1E9E2F858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DA660-6252-7452-B9FE-85D699518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reset link flow and show the current behavior in the app. Use a generic response so the interface does not disclose whether an account exists.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95E21-5FC7-B5F8-CAA4-860C9EED8C8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504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how the task breakdown supports the sequence of screens and features in the current increment.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logical Sprint 1 view. Point out that the dashed data-store paths describe planned integration, while the current demo should show only what is actually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entry, active state and exit transitions. Compare the state flow to the live app and note any changes from customer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61E4-588C-5E5A-D195-956CCE3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7A1AE-04D8-E281-122C-66915182A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CD7C5-A90C-6B00-61C1-BD50BD6A7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entry, active state and exit transitions. Compare the state flow to the live app and note any changes from customer feedback.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EC366-C90B-9A0E-8FCE-0EB0C4FE360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6655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tests on the current build. Enter observed results before presenting; these rows are test prompts, not claims that tests have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2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66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68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9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92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69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6804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767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298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37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150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34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4558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80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866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051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8377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0150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713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499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938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941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2127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4333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1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368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5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94E1DB92-6C81-48FE-875D-F5022040D77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634285D-1277-41E0-8321-FEB631C54FA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554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6.jp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8.jp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9.jp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0.jp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1.jp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2.jp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6264946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F4F6F2"/>
                </a:solidFill>
                <a:latin typeface="Cambria"/>
              </a:rPr>
              <a:t>PayPause</a:t>
            </a:r>
            <a:endParaRPr sz="4800" b="1" i="0" dirty="0">
              <a:solidFill>
                <a:srgbClr val="F4F6F2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8521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0" i="1">
                <a:solidFill>
                  <a:srgbClr val="FFB940"/>
                </a:solidFill>
                <a:latin typeface="Cambria"/>
              </a:rPr>
              <a:t>A breath before it’s gone.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87168"/>
            <a:ext cx="4114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A6B5AD"/>
                </a:solidFill>
                <a:latin typeface="Calibri"/>
              </a:rPr>
              <a:t>Banking app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71800"/>
            <a:ext cx="539496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F4F6F2"/>
                </a:solidFill>
                <a:latin typeface="Calibri"/>
              </a:rPr>
              <a:t>Pause unusual payment activity before it becomes a regret.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66360"/>
            <a:ext cx="457200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i="0" dirty="0">
                <a:solidFill>
                  <a:srgbClr val="A6B5AD"/>
                </a:solidFill>
                <a:latin typeface="Calibri"/>
              </a:rPr>
              <a:t>Presented by: Sai Charan</a:t>
            </a:r>
            <a:r>
              <a:rPr lang="en-US" sz="1200" b="0" i="0" dirty="0">
                <a:solidFill>
                  <a:srgbClr val="A6B5AD"/>
                </a:solidFill>
                <a:latin typeface="Calibri"/>
              </a:rPr>
              <a:t> Beemara</a:t>
            </a:r>
          </a:p>
          <a:p>
            <a:pPr algn="l"/>
            <a:r>
              <a:rPr lang="en-US" sz="1200" dirty="0">
                <a:solidFill>
                  <a:srgbClr val="A6B5AD"/>
                </a:solidFill>
                <a:latin typeface="Calibri"/>
              </a:rPr>
              <a:t>Client : Dr. Victor Govindaswamy</a:t>
            </a:r>
            <a:r>
              <a:rPr sz="1200" b="0" i="0" dirty="0">
                <a:solidFill>
                  <a:srgbClr val="A6B5AD"/>
                </a:solidFill>
                <a:latin typeface="Calibri"/>
              </a:rPr>
              <a:t>
Project Proposal • 2026</a:t>
            </a:r>
            <a:endParaRPr lang="en-US" sz="1200" b="0" i="0" dirty="0">
              <a:solidFill>
                <a:srgbClr val="A6B5AD"/>
              </a:solidFill>
              <a:latin typeface="Calibri"/>
            </a:endParaRPr>
          </a:p>
        </p:txBody>
      </p:sp>
      <p:pic>
        <p:nvPicPr>
          <p:cNvPr id="8" name="Picture 7" descr="a_clean_high_contrast_modern_vector_style_logo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634" y="1394460"/>
            <a:ext cx="4069080" cy="4069080"/>
          </a:xfrm>
          <a:prstGeom prst="rect">
            <a:avLst/>
          </a:prstGeom>
        </p:spPr>
      </p:pic>
      <p:pic>
        <p:nvPicPr>
          <p:cNvPr id="11" name="Picture 10" descr="slide1_pictur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91439"/>
            <a:ext cx="1170432" cy="11604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rand-top-rule">
            <a:extLst>
              <a:ext uri="{FF2B5EF4-FFF2-40B4-BE49-F238E27FC236}">
                <a16:creationId xmlns:a16="http://schemas.microsoft.com/office/drawing/2014/main" id="{D13ACF01-7ACB-4721-B4B1-D11FA962BB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6D5C8DF4-BC10-4E60-A5FB-EC0B705E3B6F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Current UI: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W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elcome and About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96830468-EB7F-4798-A26A-79A59ABD856B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085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FB6"/>
                </a:solidFill>
                <a:latin typeface="Arial"/>
                <a:ea typeface="Arial"/>
                <a:cs typeface="Arial"/>
              </a:rPr>
              <a:t>Show the entry point and the product information available to the user.</a:t>
            </a:r>
          </a:p>
        </p:txBody>
      </p:sp>
      <p:sp>
        <p:nvSpPr>
          <p:cNvPr id="6" name="title-accent">
            <a:extLst>
              <a:ext uri="{FF2B5EF4-FFF2-40B4-BE49-F238E27FC236}">
                <a16:creationId xmlns:a16="http://schemas.microsoft.com/office/drawing/2014/main" id="{020E4CD7-E2CA-41E8-8CB3-236DE210C1CD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9055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590800" y="1345070"/>
            <a:ext cx="2362200" cy="475985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90658" y="1375307"/>
            <a:ext cx="2348592" cy="4729617"/>
          </a:xfrm>
          <a:prstGeom prst="rect">
            <a:avLst/>
          </a:prstGeom>
        </p:spPr>
      </p:pic>
      <p:sp>
        <p:nvSpPr>
          <p:cNvPr id="9" name="text-lurdgurgzcs">
            <a:extLst>
              <a:ext uri="{FF2B5EF4-FFF2-40B4-BE49-F238E27FC236}">
                <a16:creationId xmlns:a16="http://schemas.microsoft.com/office/drawing/2014/main" id="{EC15722A-68C6-4FEC-81B0-EECE19E609BA}"/>
              </a:ext>
            </a:extLst>
          </p:cNvPr>
          <p:cNvSpPr>
            <a:spLocks noGrp="1"/>
          </p:cNvSpPr>
          <p:nvPr/>
        </p:nvSpPr>
        <p:spPr>
          <a:xfrm>
            <a:off x="2476500" y="6115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96" lnSpcReduction="10000"/>
          </a:bodyPr>
          <a:lstStyle/>
          <a:p>
            <a:pPr algn="ctr">
              <a:defRPr sz="1275" b="1">
                <a:solidFill>
                  <a:srgbClr val="F3F4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4F5"/>
                </a:solidFill>
                <a:latin typeface="Arial"/>
                <a:ea typeface="Arial"/>
                <a:cs typeface="Arial"/>
              </a:rPr>
              <a:t>Welcome</a:t>
            </a:r>
          </a:p>
        </p:txBody>
      </p:sp>
      <p:sp>
        <p:nvSpPr>
          <p:cNvPr id="10" name="text-pxu8vqe0ar8">
            <a:extLst>
              <a:ext uri="{FF2B5EF4-FFF2-40B4-BE49-F238E27FC236}">
                <a16:creationId xmlns:a16="http://schemas.microsoft.com/office/drawing/2014/main" id="{6BBFE323-9DD0-480C-9AD2-35CD827363F8}"/>
              </a:ext>
            </a:extLst>
          </p:cNvPr>
          <p:cNvSpPr>
            <a:spLocks noGrp="1"/>
          </p:cNvSpPr>
          <p:nvPr/>
        </p:nvSpPr>
        <p:spPr>
          <a:xfrm>
            <a:off x="6762750" y="6115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96" lnSpcReduction="10000"/>
          </a:bodyPr>
          <a:lstStyle/>
          <a:p>
            <a:pPr algn="ctr">
              <a:defRPr sz="1275" b="1">
                <a:solidFill>
                  <a:srgbClr val="F3F4F5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3F4F5"/>
                </a:solidFill>
                <a:latin typeface="Arial"/>
                <a:ea typeface="Arial"/>
                <a:cs typeface="Arial"/>
              </a:rPr>
              <a:t>About PayPause</a:t>
            </a:r>
          </a:p>
        </p:txBody>
      </p:sp>
      <p:sp>
        <p:nvSpPr>
          <p:cNvPr id="11" name="footer-rule-4">
            <a:extLst>
              <a:ext uri="{FF2B5EF4-FFF2-40B4-BE49-F238E27FC236}">
                <a16:creationId xmlns:a16="http://schemas.microsoft.com/office/drawing/2014/main" id="{35B857FD-5335-4313-8566-9B732C7C4BE1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ooter-4">
            <a:extLst>
              <a:ext uri="{FF2B5EF4-FFF2-40B4-BE49-F238E27FC236}">
                <a16:creationId xmlns:a16="http://schemas.microsoft.com/office/drawing/2014/main" id="{312E3267-EA5B-4EBD-92EC-8B6D6B0B1380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sp>
        <p:nvSpPr>
          <p:cNvPr id="13" name="page-4">
            <a:extLst>
              <a:ext uri="{FF2B5EF4-FFF2-40B4-BE49-F238E27FC236}">
                <a16:creationId xmlns:a16="http://schemas.microsoft.com/office/drawing/2014/main" id="{1844A8BC-6406-407A-949C-601B3D3B086B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900" b="1">
                <a:solidFill>
                  <a:srgbClr val="F6A000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F6A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rrow: Left 6">
            <a:hlinkClick r:id="rId7" action="ppaction://hlinksldjump"/>
            <a:extLst>
              <a:ext uri="{FF2B5EF4-FFF2-40B4-BE49-F238E27FC236}">
                <a16:creationId xmlns:a16="http://schemas.microsoft.com/office/drawing/2014/main" id="{54AA3923-A341-3348-F434-0A786B6A1BE8}"/>
              </a:ext>
            </a:extLst>
          </p:cNvPr>
          <p:cNvSpPr/>
          <p:nvPr/>
        </p:nvSpPr>
        <p:spPr>
          <a:xfrm>
            <a:off x="11454063" y="6336518"/>
            <a:ext cx="629010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0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rand-top-rule">
            <a:extLst>
              <a:ext uri="{FF2B5EF4-FFF2-40B4-BE49-F238E27FC236}">
                <a16:creationId xmlns:a16="http://schemas.microsoft.com/office/drawing/2014/main" id="{3BD9EF61-262A-46CC-9215-9116787073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5CBACA44-C0F4-4562-9466-1E5041E4F4B2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5F6"/>
                </a:solidFill>
                <a:latin typeface="Arial"/>
                <a:ea typeface="Arial"/>
                <a:cs typeface="Arial"/>
              </a:rPr>
              <a:t>Current UI: account access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A2435D91-C711-40B9-8AA7-E8235D10E70D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085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AFB6"/>
                </a:solidFill>
                <a:latin typeface="Arial"/>
                <a:ea typeface="Arial"/>
                <a:cs typeface="Arial"/>
              </a:rPr>
              <a:t>The materials show email login, biometric login and account creation.</a:t>
            </a:r>
          </a:p>
        </p:txBody>
      </p:sp>
      <p:sp>
        <p:nvSpPr>
          <p:cNvPr id="6" name="title-accent">
            <a:extLst>
              <a:ext uri="{FF2B5EF4-FFF2-40B4-BE49-F238E27FC236}">
                <a16:creationId xmlns:a16="http://schemas.microsoft.com/office/drawing/2014/main" id="{BAA9DCD7-5DD2-4352-A072-AD0FD0B39E10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9055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638424" y="1571625"/>
            <a:ext cx="2314575" cy="4572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239002" y="1571625"/>
            <a:ext cx="2219323" cy="4572000"/>
          </a:xfrm>
          <a:prstGeom prst="rect">
            <a:avLst/>
          </a:prstGeom>
        </p:spPr>
      </p:pic>
      <p:sp>
        <p:nvSpPr>
          <p:cNvPr id="9" name="text-zriajidcac">
            <a:extLst>
              <a:ext uri="{FF2B5EF4-FFF2-40B4-BE49-F238E27FC236}">
                <a16:creationId xmlns:a16="http://schemas.microsoft.com/office/drawing/2014/main" id="{78D5C5A6-1A8D-4EE0-9E5B-368373597F2D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96" lnSpcReduction="10000"/>
          </a:bodyPr>
          <a:lstStyle/>
          <a:p>
            <a:pPr algn="ctr">
              <a:defRPr sz="1275" b="1">
                <a:solidFill>
                  <a:srgbClr val="F3F4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4F5"/>
                </a:solidFill>
                <a:latin typeface="Arial"/>
                <a:ea typeface="Arial"/>
                <a:cs typeface="Arial"/>
              </a:rPr>
              <a:t>Log In</a:t>
            </a:r>
          </a:p>
        </p:txBody>
      </p:sp>
      <p:sp>
        <p:nvSpPr>
          <p:cNvPr id="10" name="text-e3bved03ukc">
            <a:extLst>
              <a:ext uri="{FF2B5EF4-FFF2-40B4-BE49-F238E27FC236}">
                <a16:creationId xmlns:a16="http://schemas.microsoft.com/office/drawing/2014/main" id="{8910AC93-75AA-4A04-A12A-44D9975C0B07}"/>
              </a:ext>
            </a:extLst>
          </p:cNvPr>
          <p:cNvSpPr>
            <a:spLocks noGrp="1"/>
          </p:cNvSpPr>
          <p:nvPr/>
        </p:nvSpPr>
        <p:spPr>
          <a:xfrm>
            <a:off x="7143750" y="61150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96" lnSpcReduction="10000"/>
          </a:bodyPr>
          <a:lstStyle/>
          <a:p>
            <a:pPr algn="ctr">
              <a:defRPr sz="1275" b="1">
                <a:solidFill>
                  <a:srgbClr val="F3F4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4F5"/>
                </a:solidFill>
                <a:latin typeface="Arial"/>
                <a:ea typeface="Arial"/>
                <a:cs typeface="Arial"/>
              </a:rPr>
              <a:t>Create Account</a:t>
            </a:r>
          </a:p>
        </p:txBody>
      </p:sp>
      <p:sp>
        <p:nvSpPr>
          <p:cNvPr id="11" name="footer-rule-5">
            <a:extLst>
              <a:ext uri="{FF2B5EF4-FFF2-40B4-BE49-F238E27FC236}">
                <a16:creationId xmlns:a16="http://schemas.microsoft.com/office/drawing/2014/main" id="{2B69FD83-7288-45FB-A82F-343E35D74150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ooter-5">
            <a:extLst>
              <a:ext uri="{FF2B5EF4-FFF2-40B4-BE49-F238E27FC236}">
                <a16:creationId xmlns:a16="http://schemas.microsoft.com/office/drawing/2014/main" id="{3E351784-F3AB-4B57-BB11-64698B23312A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sp>
        <p:nvSpPr>
          <p:cNvPr id="13" name="page-5">
            <a:extLst>
              <a:ext uri="{FF2B5EF4-FFF2-40B4-BE49-F238E27FC236}">
                <a16:creationId xmlns:a16="http://schemas.microsoft.com/office/drawing/2014/main" id="{D0F61AF0-6750-465F-9D7E-6C2C2E28830C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900" b="1">
                <a:solidFill>
                  <a:srgbClr val="F6A000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F6A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35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ECC1-805A-AE1E-EC2D-623AB80F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rand-top-rule">
            <a:extLst>
              <a:ext uri="{FF2B5EF4-FFF2-40B4-BE49-F238E27FC236}">
                <a16:creationId xmlns:a16="http://schemas.microsoft.com/office/drawing/2014/main" id="{357E59D9-07C2-AC09-E817-462C413B22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FDB426-D50C-D8CF-0B6F-BBDCF8278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B67FCD-1705-D556-FA49-4155E2308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58DEF10E-EF6F-7960-A491-35DCE2A3EDAB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GUI Wireframes</a:t>
            </a:r>
            <a:endParaRPr sz="2700" b="1" dirty="0">
              <a:solidFill>
                <a:srgbClr val="F4F5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F832DEBD-5B60-7F89-630C-60BD21EB197B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085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A8AFB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footer-rule-5">
            <a:extLst>
              <a:ext uri="{FF2B5EF4-FFF2-40B4-BE49-F238E27FC236}">
                <a16:creationId xmlns:a16="http://schemas.microsoft.com/office/drawing/2014/main" id="{B75B82DC-C095-C46C-CCDF-9D64012A4091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ooter-5">
            <a:extLst>
              <a:ext uri="{FF2B5EF4-FFF2-40B4-BE49-F238E27FC236}">
                <a16:creationId xmlns:a16="http://schemas.microsoft.com/office/drawing/2014/main" id="{53CFE845-1067-669D-2B19-48B59E263C05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sp>
        <p:nvSpPr>
          <p:cNvPr id="13" name="page-5">
            <a:extLst>
              <a:ext uri="{FF2B5EF4-FFF2-40B4-BE49-F238E27FC236}">
                <a16:creationId xmlns:a16="http://schemas.microsoft.com/office/drawing/2014/main" id="{4AB6B203-268A-4629-63EA-DE0CFC33A0A6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r">
              <a:defRPr sz="900" b="1">
                <a:solidFill>
                  <a:srgbClr val="F6A000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F6A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82E04-EB6F-D3FE-5C4C-516B8DE60F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1114528"/>
            <a:ext cx="2866449" cy="52005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014CDC-C55F-6B05-80A3-18AA8045F2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25" y="1114527"/>
            <a:ext cx="2866449" cy="52100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A7D815-CC13-72D0-7985-BFE5A20470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192" y="1111630"/>
            <a:ext cx="2866449" cy="5200548"/>
          </a:xfrm>
          <a:prstGeom prst="rect">
            <a:avLst/>
          </a:prstGeom>
        </p:spPr>
      </p:pic>
      <p:sp>
        <p:nvSpPr>
          <p:cNvPr id="20" name="Arrow: Left 19">
            <a:hlinkClick r:id="rId8" action="ppaction://hlinksldjump"/>
            <a:extLst>
              <a:ext uri="{FF2B5EF4-FFF2-40B4-BE49-F238E27FC236}">
                <a16:creationId xmlns:a16="http://schemas.microsoft.com/office/drawing/2014/main" id="{55414E93-8F8C-D47D-CA59-650466EB0D96}"/>
              </a:ext>
            </a:extLst>
          </p:cNvPr>
          <p:cNvSpPr/>
          <p:nvPr/>
        </p:nvSpPr>
        <p:spPr>
          <a:xfrm>
            <a:off x="11454063" y="6325633"/>
            <a:ext cx="629010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49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yPause_app_icon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19455"/>
            <a:ext cx="767225" cy="525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783676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5F7FA"/>
                </a:solidFill>
                <a:latin typeface="Aptos"/>
              </a:rPr>
              <a:t>Feature Comparison — Where PayPause Is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353312"/>
            <a:ext cx="11292840" cy="9144"/>
          </a:xfrm>
          <a:prstGeom prst="rect">
            <a:avLst/>
          </a:prstGeom>
          <a:solidFill>
            <a:srgbClr val="36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2971800" cy="530352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808080"/>
              </a:highligh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2029968"/>
            <a:ext cx="2862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5F7FA"/>
                </a:solidFill>
                <a:latin typeface="Aptos"/>
              </a:rPr>
              <a:t>Security capability</a:t>
            </a:r>
            <a:r>
              <a:rPr lang="en-US" sz="1200" b="1" dirty="0">
                <a:solidFill>
                  <a:srgbClr val="F5F7FA"/>
                </a:solidFill>
                <a:latin typeface="Aptos"/>
              </a:rPr>
              <a:t>/ Apps</a:t>
            </a:r>
            <a:endParaRPr sz="120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11880" y="1874519"/>
            <a:ext cx="1417320" cy="530352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66744" y="2029968"/>
            <a:ext cx="1307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5F7FA"/>
                </a:solidFill>
                <a:latin typeface="Aptos"/>
              </a:rPr>
              <a:t>Chase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1874519"/>
            <a:ext cx="1417320" cy="530352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93792" y="2029968"/>
            <a:ext cx="1307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5F7FA"/>
                </a:solidFill>
                <a:latin typeface="Aptos"/>
              </a:rPr>
              <a:t>Venmo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5976" y="1874519"/>
            <a:ext cx="1417320" cy="530352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31726" y="2029968"/>
            <a:ext cx="1307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5F7FA"/>
                </a:solidFill>
                <a:latin typeface="Aptos"/>
              </a:rPr>
              <a:t>BofA</a:t>
            </a:r>
            <a:endParaRPr sz="1400" b="1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93024" y="1874519"/>
            <a:ext cx="1417320" cy="530352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47888" y="2029968"/>
            <a:ext cx="1307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5F7FA"/>
                </a:solidFill>
                <a:latin typeface="Aptos"/>
              </a:rPr>
              <a:t>PayPause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1874519"/>
            <a:ext cx="1965960" cy="530352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74936" y="2029968"/>
            <a:ext cx="1856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5F7FA"/>
                </a:solidFill>
                <a:latin typeface="Aptos"/>
              </a:rPr>
              <a:t>What it adds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450592"/>
            <a:ext cx="297180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2578608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7FA"/>
                </a:solidFill>
                <a:latin typeface="Aptos"/>
              </a:rPr>
              <a:t>Biometric / strong sign-in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450592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0" y="2366851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38928" y="2450592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84648" y="2395730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5976" y="2450592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93024" y="2450592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D1813"/>
          </a:solidFill>
          <a:ln w="10160">
            <a:solidFill>
              <a:srgbClr val="69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38744" y="2405354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58D391"/>
                </a:solidFill>
                <a:latin typeface="Aptos"/>
              </a:rPr>
              <a:t>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0072" y="2450592"/>
            <a:ext cx="196596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65792" y="2578608"/>
            <a:ext cx="1874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"/>
              </a:rPr>
              <a:t>Completed</a:t>
            </a:r>
            <a:endParaRPr sz="1400" b="0" dirty="0">
              <a:solidFill>
                <a:schemeClr val="accent3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66928" y="2926080"/>
            <a:ext cx="297180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3054096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7FA"/>
                </a:solidFill>
                <a:latin typeface="Aptos"/>
              </a:rPr>
              <a:t>Fraud / transaction monitoring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2926080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0" y="2871215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38928" y="2926080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5184648" y="2880841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5976" y="2926080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11696" y="2842339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24" y="2926080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D1813"/>
          </a:solidFill>
          <a:ln w="10160">
            <a:solidFill>
              <a:srgbClr val="69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20072" y="2926080"/>
            <a:ext cx="196596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65792" y="3054096"/>
            <a:ext cx="1874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"/>
              </a:rPr>
              <a:t>Completed</a:t>
            </a:r>
            <a:endParaRPr sz="1400" b="0" dirty="0">
              <a:solidFill>
                <a:schemeClr val="accent3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66928" y="3401568"/>
            <a:ext cx="297180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" y="3529584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7FA"/>
                </a:solidFill>
                <a:latin typeface="Aptos"/>
              </a:rPr>
              <a:t>Security alerts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1880" y="3401568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3308202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38928" y="3401568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665976" y="3401568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193024" y="3401568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D1813"/>
          </a:solidFill>
          <a:ln w="10160">
            <a:solidFill>
              <a:srgbClr val="69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720072" y="3401568"/>
            <a:ext cx="196596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765792" y="3529584"/>
            <a:ext cx="1874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FFFF00"/>
                </a:solidFill>
                <a:latin typeface="Aptos"/>
              </a:rPr>
              <a:t>In Progress</a:t>
            </a:r>
            <a:endParaRPr sz="1400" b="0" dirty="0">
              <a:solidFill>
                <a:srgbClr val="FFFF00"/>
              </a:solidFill>
              <a:latin typeface="Aptos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66928" y="3877056"/>
            <a:ext cx="297180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2648" y="4005072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7FA"/>
                </a:solidFill>
                <a:latin typeface="Aptos"/>
              </a:rPr>
              <a:t>Continuous behavior signals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11880" y="3877056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0" y="3815300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138928" y="3877056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665976" y="3877056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193024" y="3877056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D1813"/>
          </a:solidFill>
          <a:ln w="10160">
            <a:solidFill>
              <a:srgbClr val="69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720072" y="3877056"/>
            <a:ext cx="196596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65792" y="4005072"/>
            <a:ext cx="1874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FFFF00"/>
                </a:solidFill>
                <a:latin typeface="Aptos"/>
              </a:rPr>
              <a:t>In Progress</a:t>
            </a:r>
            <a:endParaRPr sz="1400" b="0" dirty="0">
              <a:solidFill>
                <a:srgbClr val="FFFF00"/>
              </a:solidFill>
              <a:latin typeface="Aptos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563010" y="4387377"/>
            <a:ext cx="297180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58368" y="4515987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7FA"/>
                </a:solidFill>
                <a:latin typeface="Aptos"/>
              </a:rPr>
              <a:t>Live session-risk visibility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11880" y="4359943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138928" y="4359942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665976" y="4370830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8193024" y="4370828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D1813"/>
          </a:solidFill>
          <a:ln w="10160">
            <a:solidFill>
              <a:srgbClr val="69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9720072" y="4370830"/>
            <a:ext cx="196596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765792" y="4487961"/>
            <a:ext cx="1874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FFFF00"/>
                </a:solidFill>
                <a:latin typeface="Aptos"/>
              </a:rPr>
              <a:t>In Progress</a:t>
            </a:r>
            <a:endParaRPr sz="1400" b="0" dirty="0">
              <a:solidFill>
                <a:srgbClr val="FFFF00"/>
              </a:solidFill>
              <a:latin typeface="Aptos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566928" y="4889860"/>
            <a:ext cx="297180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2648" y="4996107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>
                <a:solidFill>
                  <a:srgbClr val="F5F7FA"/>
                </a:solidFill>
                <a:latin typeface="Aptos"/>
              </a:rPr>
              <a:t>Screen Recording stopped</a:t>
            </a:r>
            <a:endParaRPr sz="1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3611880" y="4846321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5138928" y="4857194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665976" y="4868082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8193024" y="4878977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D1813"/>
          </a:solidFill>
          <a:ln w="10160">
            <a:solidFill>
              <a:srgbClr val="69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9720072" y="4878973"/>
            <a:ext cx="196596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765792" y="5002145"/>
            <a:ext cx="1874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rgbClr val="FFFF00"/>
                </a:solidFill>
                <a:latin typeface="Aptos"/>
              </a:rPr>
              <a:t>In Progress</a:t>
            </a:r>
            <a:endParaRPr sz="1400" b="0" dirty="0">
              <a:solidFill>
                <a:srgbClr val="FFFF00"/>
              </a:solidFill>
              <a:latin typeface="Aptos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566928" y="5376235"/>
            <a:ext cx="297180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12648" y="5493360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5F7FA"/>
                </a:solidFill>
                <a:latin typeface="Aptos"/>
              </a:rPr>
              <a:t>Pause before unusual payment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611880" y="5354461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138928" y="5365348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6665976" y="5365350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8193024" y="5387120"/>
            <a:ext cx="1417320" cy="466344"/>
          </a:xfrm>
          <a:prstGeom prst="roundRect">
            <a:avLst>
              <a:gd name="adj" fmla="val 10000"/>
            </a:avLst>
          </a:prstGeom>
          <a:solidFill>
            <a:srgbClr val="1D1813"/>
          </a:solidFill>
          <a:ln w="10160">
            <a:solidFill>
              <a:srgbClr val="69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9720072" y="5387120"/>
            <a:ext cx="1965960" cy="466344"/>
          </a:xfrm>
          <a:prstGeom prst="roundRect">
            <a:avLst>
              <a:gd name="adj" fmla="val 10000"/>
            </a:avLst>
          </a:prstGeom>
          <a:solidFill>
            <a:srgbClr val="121418"/>
          </a:solidFill>
          <a:ln w="10160"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765792" y="5461917"/>
            <a:ext cx="1874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"/>
              </a:rPr>
              <a:t>Completed</a:t>
            </a:r>
            <a:endParaRPr sz="1400" b="0" dirty="0">
              <a:solidFill>
                <a:schemeClr val="accent3">
                  <a:lumMod val="60000"/>
                  <a:lumOff val="40000"/>
                </a:schemeClr>
              </a:solidFill>
              <a:latin typeface="Aptos"/>
            </a:endParaRPr>
          </a:p>
        </p:txBody>
      </p:sp>
      <p:pic>
        <p:nvPicPr>
          <p:cNvPr id="118" name="Picture 117" descr="slide1_picture5.png">
            <a:extLst>
              <a:ext uri="{FF2B5EF4-FFF2-40B4-BE49-F238E27FC236}">
                <a16:creationId xmlns:a16="http://schemas.microsoft.com/office/drawing/2014/main" id="{493A4EA9-F927-B5E7-673A-28288BE688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142617" y="62826"/>
            <a:ext cx="831669" cy="905779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3422E994-0C89-9E96-FFF7-A02D17025AA7}"/>
              </a:ext>
            </a:extLst>
          </p:cNvPr>
          <p:cNvSpPr txBox="1"/>
          <p:nvPr/>
        </p:nvSpPr>
        <p:spPr>
          <a:xfrm>
            <a:off x="6688836" y="2382778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B17ED69-C82B-1F0F-EDC5-2331CF21F978}"/>
              </a:ext>
            </a:extLst>
          </p:cNvPr>
          <p:cNvSpPr txBox="1"/>
          <p:nvPr/>
        </p:nvSpPr>
        <p:spPr>
          <a:xfrm>
            <a:off x="8261604" y="2895159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58D391"/>
                </a:solidFill>
                <a:latin typeface="Aptos"/>
              </a:rPr>
              <a:t>✓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BCB08F8-59A1-6A3C-C7A8-F1DF3114B728}"/>
              </a:ext>
            </a:extLst>
          </p:cNvPr>
          <p:cNvSpPr txBox="1"/>
          <p:nvPr/>
        </p:nvSpPr>
        <p:spPr>
          <a:xfrm>
            <a:off x="8284464" y="3401568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58D391"/>
                </a:solidFill>
                <a:latin typeface="Aptos"/>
              </a:rPr>
              <a:t>✓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C35283F-D2BB-76F7-BE85-968FD7707066}"/>
              </a:ext>
            </a:extLst>
          </p:cNvPr>
          <p:cNvSpPr txBox="1"/>
          <p:nvPr/>
        </p:nvSpPr>
        <p:spPr>
          <a:xfrm>
            <a:off x="8284464" y="3866572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58D391"/>
                </a:solidFill>
                <a:latin typeface="Aptos"/>
              </a:rPr>
              <a:t>✓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C56CF64-6CA9-80AA-FC0F-2F7BAB0C736C}"/>
              </a:ext>
            </a:extLst>
          </p:cNvPr>
          <p:cNvSpPr txBox="1"/>
          <p:nvPr/>
        </p:nvSpPr>
        <p:spPr>
          <a:xfrm>
            <a:off x="8284705" y="4358258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58D391"/>
                </a:solidFill>
                <a:latin typeface="Aptos"/>
              </a:rPr>
              <a:t>✓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BACAAC7-83FE-0DB2-69A7-064C1015D6A8}"/>
              </a:ext>
            </a:extLst>
          </p:cNvPr>
          <p:cNvSpPr txBox="1"/>
          <p:nvPr/>
        </p:nvSpPr>
        <p:spPr>
          <a:xfrm>
            <a:off x="8284705" y="4837174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58D391"/>
                </a:solidFill>
                <a:latin typeface="Aptos"/>
              </a:rPr>
              <a:t>✓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ADDBC61-8664-37B2-A8D8-D39505C009A1}"/>
              </a:ext>
            </a:extLst>
          </p:cNvPr>
          <p:cNvSpPr txBox="1"/>
          <p:nvPr/>
        </p:nvSpPr>
        <p:spPr>
          <a:xfrm>
            <a:off x="8284705" y="5339236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58D391"/>
                </a:solidFill>
                <a:latin typeface="Aptos"/>
              </a:rPr>
              <a:t>✓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3FB72AB-5B5D-FB30-80B3-3D9F3C9EE5C2}"/>
              </a:ext>
            </a:extLst>
          </p:cNvPr>
          <p:cNvSpPr txBox="1"/>
          <p:nvPr/>
        </p:nvSpPr>
        <p:spPr>
          <a:xfrm>
            <a:off x="5138928" y="3825435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9490380-827E-5542-6E56-76ADB96E3902}"/>
              </a:ext>
            </a:extLst>
          </p:cNvPr>
          <p:cNvSpPr txBox="1"/>
          <p:nvPr/>
        </p:nvSpPr>
        <p:spPr>
          <a:xfrm>
            <a:off x="6715305" y="3825435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9C58C0C-B684-1D0C-7C93-5597EE04E98D}"/>
              </a:ext>
            </a:extLst>
          </p:cNvPr>
          <p:cNvSpPr txBox="1"/>
          <p:nvPr/>
        </p:nvSpPr>
        <p:spPr>
          <a:xfrm>
            <a:off x="3644538" y="4324515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6CFCC68-4E8F-5485-0F01-957EC1F98E48}"/>
              </a:ext>
            </a:extLst>
          </p:cNvPr>
          <p:cNvSpPr txBox="1"/>
          <p:nvPr/>
        </p:nvSpPr>
        <p:spPr>
          <a:xfrm>
            <a:off x="3611880" y="4795738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lang="en-US"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B5F17E9-49E2-EF6A-C048-77A865EC4D19}"/>
              </a:ext>
            </a:extLst>
          </p:cNvPr>
          <p:cNvSpPr txBox="1"/>
          <p:nvPr/>
        </p:nvSpPr>
        <p:spPr>
          <a:xfrm>
            <a:off x="3634740" y="5295245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EFE6497-23FE-6E8E-B06C-394867FDB720}"/>
              </a:ext>
            </a:extLst>
          </p:cNvPr>
          <p:cNvSpPr txBox="1"/>
          <p:nvPr/>
        </p:nvSpPr>
        <p:spPr>
          <a:xfrm>
            <a:off x="5138928" y="4314772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050394B-4416-E806-168A-A96A69CA1756}"/>
              </a:ext>
            </a:extLst>
          </p:cNvPr>
          <p:cNvSpPr txBox="1"/>
          <p:nvPr/>
        </p:nvSpPr>
        <p:spPr>
          <a:xfrm>
            <a:off x="5125212" y="4754461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C870BC7-2F2E-E720-C5D6-1FFA7A159335}"/>
              </a:ext>
            </a:extLst>
          </p:cNvPr>
          <p:cNvSpPr txBox="1"/>
          <p:nvPr/>
        </p:nvSpPr>
        <p:spPr>
          <a:xfrm>
            <a:off x="6711696" y="4277127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149CBF9-D9A7-8147-09B2-0E5037BAB242}"/>
              </a:ext>
            </a:extLst>
          </p:cNvPr>
          <p:cNvSpPr txBox="1"/>
          <p:nvPr/>
        </p:nvSpPr>
        <p:spPr>
          <a:xfrm>
            <a:off x="5138928" y="5283120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9E24201-4BC1-131D-E0DF-DA4C61EA3728}"/>
              </a:ext>
            </a:extLst>
          </p:cNvPr>
          <p:cNvSpPr txBox="1"/>
          <p:nvPr/>
        </p:nvSpPr>
        <p:spPr>
          <a:xfrm>
            <a:off x="6688836" y="4802345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✓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A009B02-DF6A-777E-6127-B1F61B9412AF}"/>
              </a:ext>
            </a:extLst>
          </p:cNvPr>
          <p:cNvSpPr txBox="1"/>
          <p:nvPr/>
        </p:nvSpPr>
        <p:spPr>
          <a:xfrm>
            <a:off x="6665976" y="5285001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5F7FA"/>
                </a:solidFill>
                <a:latin typeface="Aptos"/>
              </a:rPr>
              <a:t>x</a:t>
            </a:r>
            <a:endParaRPr sz="3200" b="0" dirty="0">
              <a:solidFill>
                <a:srgbClr val="F5F7FA"/>
              </a:solidFill>
              <a:latin typeface="Apto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89B1E27-9606-8346-ECB0-A1C0E7470247}"/>
              </a:ext>
            </a:extLst>
          </p:cNvPr>
          <p:cNvSpPr txBox="1"/>
          <p:nvPr/>
        </p:nvSpPr>
        <p:spPr>
          <a:xfrm>
            <a:off x="5207508" y="3352961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D81C4C9-E946-45BD-6495-8D7CF2F2599F}"/>
              </a:ext>
            </a:extLst>
          </p:cNvPr>
          <p:cNvSpPr txBox="1"/>
          <p:nvPr/>
        </p:nvSpPr>
        <p:spPr>
          <a:xfrm>
            <a:off x="6741774" y="3334797"/>
            <a:ext cx="1325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dirty="0">
                <a:solidFill>
                  <a:srgbClr val="F5F7FA"/>
                </a:solidFill>
                <a:latin typeface="Aptos"/>
              </a:rPr>
              <a:t>✓</a:t>
            </a:r>
          </a:p>
        </p:txBody>
      </p:sp>
      <p:sp>
        <p:nvSpPr>
          <p:cNvPr id="6" name="Arrow: Left 5">
            <a:hlinkClick r:id="rId4" action="ppaction://hlinksldjump"/>
            <a:extLst>
              <a:ext uri="{FF2B5EF4-FFF2-40B4-BE49-F238E27FC236}">
                <a16:creationId xmlns:a16="http://schemas.microsoft.com/office/drawing/2014/main" id="{420A9528-9185-30AC-A1CA-82DB9B244CF8}"/>
              </a:ext>
            </a:extLst>
          </p:cNvPr>
          <p:cNvSpPr/>
          <p:nvPr/>
        </p:nvSpPr>
        <p:spPr>
          <a:xfrm>
            <a:off x="11454063" y="6107917"/>
            <a:ext cx="629010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rand-top-rule">
            <a:extLst>
              <a:ext uri="{FF2B5EF4-FFF2-40B4-BE49-F238E27FC236}">
                <a16:creationId xmlns:a16="http://schemas.microsoft.com/office/drawing/2014/main" id="{D042CB2F-A850-47C9-B40B-BEFE6FA9B9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 sz="16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D7C1B691-E26F-4E98-AF5B-1332C4AC012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4F5F6"/>
                </a:solidFill>
                <a:latin typeface="Arial"/>
                <a:ea typeface="Arial"/>
                <a:cs typeface="Arial"/>
              </a:rPr>
              <a:t>Background application reviews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E268449B-8716-4D25-80CF-8EED5AD8E7FE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085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27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A8AFB6"/>
                </a:solidFill>
                <a:latin typeface="Arial"/>
                <a:ea typeface="Arial"/>
                <a:cs typeface="Arial"/>
              </a:rPr>
              <a:t>These detailed reviews belong to the proposal phase and remain part of the project evidence.</a:t>
            </a:r>
          </a:p>
        </p:txBody>
      </p:sp>
      <p:sp>
        <p:nvSpPr>
          <p:cNvPr id="6" name="title-accent">
            <a:extLst>
              <a:ext uri="{FF2B5EF4-FFF2-40B4-BE49-F238E27FC236}">
                <a16:creationId xmlns:a16="http://schemas.microsoft.com/office/drawing/2014/main" id="{95F62B52-68C7-4B58-A749-22EB3CCBE31A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9055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text-rblkeq9e3ni">
            <a:extLst>
              <a:ext uri="{FF2B5EF4-FFF2-40B4-BE49-F238E27FC236}">
                <a16:creationId xmlns:a16="http://schemas.microsoft.com/office/drawing/2014/main" id="{56A1FBC5-39D5-48C3-9C9D-E6059DE0717B}"/>
              </a:ext>
            </a:extLst>
          </p:cNvPr>
          <p:cNvSpPr>
            <a:spLocks noGrp="1"/>
          </p:cNvSpPr>
          <p:nvPr/>
        </p:nvSpPr>
        <p:spPr>
          <a:xfrm>
            <a:off x="714375" y="1743075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652"/>
          </a:bodyPr>
          <a:lstStyle/>
          <a:p>
            <a:pPr algn="l">
              <a:defRPr sz="1725" b="1">
                <a:solidFill>
                  <a:srgbClr val="F3F4F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3F4F5"/>
                </a:solidFill>
                <a:latin typeface="Arial"/>
                <a:ea typeface="Arial"/>
                <a:cs typeface="Arial"/>
              </a:rPr>
              <a:t>For each required existing application, be ready to show: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571500" y="2190750"/>
          <a:ext cx="11049000" cy="2781300"/>
        </p:xfrm>
        <a:graphic>
          <a:graphicData uri="http://schemas.openxmlformats.org/drawingml/2006/table">
            <a:tbl>
              <a:tblPr firstRow="1" bandRow="1"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3F4F5"/>
                          </a:solidFill>
                          <a:latin typeface="Arial"/>
                          <a:ea typeface="Arial"/>
                          <a:cs typeface="Arial"/>
                        </a:rPr>
                        <a:t>Proposal review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3F4F5"/>
                          </a:solidFill>
                          <a:latin typeface="Arial"/>
                          <a:ea typeface="Arial"/>
                          <a:cs typeface="Arial"/>
                        </a:rPr>
                        <a:t>Evidence in proposal deck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3F4F5"/>
                          </a:solidFill>
                          <a:latin typeface="Arial"/>
                          <a:ea typeface="Arial"/>
                          <a:cs typeface="Arial"/>
                        </a:rPr>
                        <a:t>Relevant observation carried into Sprint 1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Chase Mobile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App profile + feature comparison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Strong sign-in, monitoring and alerts marked present; no pause-before-payment feature marked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Venmo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App profile + feature comparison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Strong sign-in, monitoring and alerts marked present; no pause-before-payment feature marked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Bank of America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App profile + feature comparison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Strong sign-in, monitoring and alerts marked present; screen recording marked present in proposal chart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-ftdvvakmmwq">
            <a:extLst>
              <a:ext uri="{FF2B5EF4-FFF2-40B4-BE49-F238E27FC236}">
                <a16:creationId xmlns:a16="http://schemas.microsoft.com/office/drawing/2014/main" id="{942FC47A-E319-4EA4-B4E2-FA7CD7A07396}"/>
              </a:ext>
            </a:extLst>
          </p:cNvPr>
          <p:cNvSpPr>
            <a:spLocks noGrp="1"/>
          </p:cNvSpPr>
          <p:nvPr/>
        </p:nvSpPr>
        <p:spPr>
          <a:xfrm>
            <a:off x="619125" y="5391150"/>
            <a:ext cx="10810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F6A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6A000"/>
                </a:solidFill>
                <a:latin typeface="Arial"/>
                <a:ea typeface="Arial"/>
                <a:cs typeface="Arial"/>
              </a:rPr>
              <a:t>The next slides preserve the proposal feedback, detailed app reviews and original comparison chart as supporting evidence.</a:t>
            </a:r>
          </a:p>
        </p:txBody>
      </p:sp>
      <p:sp>
        <p:nvSpPr>
          <p:cNvPr id="10" name="footer-rule-7">
            <a:extLst>
              <a:ext uri="{FF2B5EF4-FFF2-40B4-BE49-F238E27FC236}">
                <a16:creationId xmlns:a16="http://schemas.microsoft.com/office/drawing/2014/main" id="{B7276E47-0E35-43DD-8BAE-AD123CC33712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footer-7">
            <a:extLst>
              <a:ext uri="{FF2B5EF4-FFF2-40B4-BE49-F238E27FC236}">
                <a16:creationId xmlns:a16="http://schemas.microsoft.com/office/drawing/2014/main" id="{6AC7638A-9781-444D-8DFD-1CEB316AFA5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sp>
        <p:nvSpPr>
          <p:cNvPr id="12" name="page-7">
            <a:extLst>
              <a:ext uri="{FF2B5EF4-FFF2-40B4-BE49-F238E27FC236}">
                <a16:creationId xmlns:a16="http://schemas.microsoft.com/office/drawing/2014/main" id="{FE63EA8F-41C8-4406-B133-0F68B3DF7F8C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r">
              <a:defRPr sz="900" b="1">
                <a:solidFill>
                  <a:srgbClr val="F6A000"/>
                </a:solidFill>
                <a:latin typeface="Arial"/>
                <a:ea typeface="Arial"/>
                <a:cs typeface="Arial"/>
              </a:defRPr>
            </a:pPr>
            <a:endParaRPr sz="1600" b="1" dirty="0">
              <a:solidFill>
                <a:srgbClr val="F6A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1748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rand-top-rule">
            <a:extLst>
              <a:ext uri="{FF2B5EF4-FFF2-40B4-BE49-F238E27FC236}">
                <a16:creationId xmlns:a16="http://schemas.microsoft.com/office/drawing/2014/main" id="{8511CE31-1962-4283-AE8C-CD9C0DE348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CFDA9D13-D4B1-43A7-8902-CFBD9232BE2D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Use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C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ase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D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iagram</a:t>
            </a:r>
          </a:p>
        </p:txBody>
      </p:sp>
      <p:sp>
        <p:nvSpPr>
          <p:cNvPr id="8" name="footer-rule-9">
            <a:extLst>
              <a:ext uri="{FF2B5EF4-FFF2-40B4-BE49-F238E27FC236}">
                <a16:creationId xmlns:a16="http://schemas.microsoft.com/office/drawing/2014/main" id="{CC515FBD-4911-446F-A723-C88803192C65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ooter-9">
            <a:extLst>
              <a:ext uri="{FF2B5EF4-FFF2-40B4-BE49-F238E27FC236}">
                <a16:creationId xmlns:a16="http://schemas.microsoft.com/office/drawing/2014/main" id="{245897FC-22A2-45BF-9569-7F06D4B80A3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A82E7A-BF8C-A591-222D-CE8127D607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02" y="1269486"/>
            <a:ext cx="8761997" cy="488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7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rand-top-rule">
            <a:extLst>
              <a:ext uri="{FF2B5EF4-FFF2-40B4-BE49-F238E27FC236}">
                <a16:creationId xmlns:a16="http://schemas.microsoft.com/office/drawing/2014/main" id="{B71910E9-2D01-41E7-B296-C7C6F2FFEE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CBF370CA-D4E1-4DE8-8986-A5B2392AC46B}"/>
              </a:ext>
            </a:extLst>
          </p:cNvPr>
          <p:cNvSpPr>
            <a:spLocks noGrp="1"/>
          </p:cNvSpPr>
          <p:nvPr/>
        </p:nvSpPr>
        <p:spPr>
          <a:xfrm>
            <a:off x="552450" y="275324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Login S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equence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D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iagram</a:t>
            </a:r>
          </a:p>
        </p:txBody>
      </p:sp>
      <p:sp>
        <p:nvSpPr>
          <p:cNvPr id="9" name="footer-11">
            <a:extLst>
              <a:ext uri="{FF2B5EF4-FFF2-40B4-BE49-F238E27FC236}">
                <a16:creationId xmlns:a16="http://schemas.microsoft.com/office/drawing/2014/main" id="{13792F1C-A8FD-48EB-A2DB-21AF3E2E0C0F}"/>
              </a:ext>
            </a:extLst>
          </p:cNvPr>
          <p:cNvSpPr>
            <a:spLocks noGrp="1"/>
          </p:cNvSpPr>
          <p:nvPr/>
        </p:nvSpPr>
        <p:spPr>
          <a:xfrm>
            <a:off x="571500" y="6688658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08A79-3A4F-24F8-931E-21B0DB14FE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5"/>
          <a:stretch>
            <a:fillRect/>
          </a:stretch>
        </p:blipFill>
        <p:spPr>
          <a:xfrm>
            <a:off x="2184400" y="808725"/>
            <a:ext cx="7747000" cy="568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1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rand-top-rule">
            <a:extLst>
              <a:ext uri="{FF2B5EF4-FFF2-40B4-BE49-F238E27FC236}">
                <a16:creationId xmlns:a16="http://schemas.microsoft.com/office/drawing/2014/main" id="{F97F1121-D32F-476F-A5B0-70CEB1EC2F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F93F4348-4B09-4E82-89A5-59085C7A64EB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Create Account S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equence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D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iagram</a:t>
            </a:r>
          </a:p>
        </p:txBody>
      </p:sp>
      <p:sp>
        <p:nvSpPr>
          <p:cNvPr id="8" name="footer-rule-12">
            <a:extLst>
              <a:ext uri="{FF2B5EF4-FFF2-40B4-BE49-F238E27FC236}">
                <a16:creationId xmlns:a16="http://schemas.microsoft.com/office/drawing/2014/main" id="{2F70B728-BF03-4D97-95DC-4DDB48D09BB3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ooter-12">
            <a:extLst>
              <a:ext uri="{FF2B5EF4-FFF2-40B4-BE49-F238E27FC236}">
                <a16:creationId xmlns:a16="http://schemas.microsoft.com/office/drawing/2014/main" id="{48426DBB-7BD4-4C6E-BD3B-47C382BFEE75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4A64B-70FE-E1DE-AB80-3D135D3E8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285" y="942518"/>
            <a:ext cx="7993915" cy="535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85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4CD8C-9CA1-C98D-05FB-B9F370A06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rand-top-rule">
            <a:extLst>
              <a:ext uri="{FF2B5EF4-FFF2-40B4-BE49-F238E27FC236}">
                <a16:creationId xmlns:a16="http://schemas.microsoft.com/office/drawing/2014/main" id="{7E1DE56D-D74B-28EB-6E33-E45962DA67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EB3474-8225-7360-C1B5-DF074770C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705950-36C8-9B9B-6EFD-5A10CC972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A417BB9E-6FCD-5D2B-0B70-719D10415AEA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Forgot Password S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equence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D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iagram</a:t>
            </a:r>
          </a:p>
        </p:txBody>
      </p:sp>
      <p:sp>
        <p:nvSpPr>
          <p:cNvPr id="8" name="footer-rule-12">
            <a:extLst>
              <a:ext uri="{FF2B5EF4-FFF2-40B4-BE49-F238E27FC236}">
                <a16:creationId xmlns:a16="http://schemas.microsoft.com/office/drawing/2014/main" id="{DBE527A3-B771-EC53-4AD7-929148D2A00B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ooter-12">
            <a:extLst>
              <a:ext uri="{FF2B5EF4-FFF2-40B4-BE49-F238E27FC236}">
                <a16:creationId xmlns:a16="http://schemas.microsoft.com/office/drawing/2014/main" id="{E73AA88E-F550-BC18-75E5-BC5E0EEE08D9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8F70E-A673-6A05-698C-902D8EAF92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562" y="873796"/>
            <a:ext cx="7709836" cy="544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04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rand-top-rule">
            <a:extLst>
              <a:ext uri="{FF2B5EF4-FFF2-40B4-BE49-F238E27FC236}">
                <a16:creationId xmlns:a16="http://schemas.microsoft.com/office/drawing/2014/main" id="{EE35B5B1-EEEF-44E2-BEE6-6D819310A2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49" y="142771"/>
            <a:ext cx="459165" cy="3144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C5AEC47B-5943-4968-867E-4687AA0AB08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Hierarchical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T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ask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A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nalysis</a:t>
            </a:r>
          </a:p>
        </p:txBody>
      </p:sp>
      <p:sp>
        <p:nvSpPr>
          <p:cNvPr id="8" name="footer-rule-13">
            <a:extLst>
              <a:ext uri="{FF2B5EF4-FFF2-40B4-BE49-F238E27FC236}">
                <a16:creationId xmlns:a16="http://schemas.microsoft.com/office/drawing/2014/main" id="{FF6E7E79-1920-45BE-8200-96275491D08E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ooter-13">
            <a:extLst>
              <a:ext uri="{FF2B5EF4-FFF2-40B4-BE49-F238E27FC236}">
                <a16:creationId xmlns:a16="http://schemas.microsoft.com/office/drawing/2014/main" id="{B00E2278-D4BC-45E4-8EC3-13ED37E34118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5B3942-B4F0-4D94-7522-319315687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22" y="998192"/>
            <a:ext cx="9728680" cy="528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rand-top-rule">
            <a:extLst>
              <a:ext uri="{FF2B5EF4-FFF2-40B4-BE49-F238E27FC236}">
                <a16:creationId xmlns:a16="http://schemas.microsoft.com/office/drawing/2014/main" id="{BC1A3AE4-0175-469C-B9FA-D9968D418D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59ADB1EC-39EE-432F-B1E0-1BAA6DB3BB8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Data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F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low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&amp; Control Flow D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iagram</a:t>
            </a:r>
          </a:p>
        </p:txBody>
      </p:sp>
      <p:sp>
        <p:nvSpPr>
          <p:cNvPr id="29" name="footer-rule-14">
            <a:extLst>
              <a:ext uri="{FF2B5EF4-FFF2-40B4-BE49-F238E27FC236}">
                <a16:creationId xmlns:a16="http://schemas.microsoft.com/office/drawing/2014/main" id="{96046953-6E37-452F-9098-7CC814F6BDC2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footer-14">
            <a:extLst>
              <a:ext uri="{FF2B5EF4-FFF2-40B4-BE49-F238E27FC236}">
                <a16:creationId xmlns:a16="http://schemas.microsoft.com/office/drawing/2014/main" id="{44243433-A189-40BE-9741-96E03FC445CE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34D742-1895-ED3E-553B-849079E51E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003530"/>
            <a:ext cx="9076623" cy="53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18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rand-top-rule">
            <a:extLst>
              <a:ext uri="{FF2B5EF4-FFF2-40B4-BE49-F238E27FC236}">
                <a16:creationId xmlns:a16="http://schemas.microsoft.com/office/drawing/2014/main" id="{85489F3B-780A-47E1-9BDB-E36408F32C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955E9FA6-3476-4A2E-A989-B01E2594F5A4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Finite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S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tate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D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iagram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- Level 0</a:t>
            </a:r>
            <a:endParaRPr sz="2700" b="1" dirty="0">
              <a:solidFill>
                <a:srgbClr val="F4F5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footer-rule-16">
            <a:extLst>
              <a:ext uri="{FF2B5EF4-FFF2-40B4-BE49-F238E27FC236}">
                <a16:creationId xmlns:a16="http://schemas.microsoft.com/office/drawing/2014/main" id="{7DD9016C-6340-451A-A807-A116C86E0664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ooter-16">
            <a:extLst>
              <a:ext uri="{FF2B5EF4-FFF2-40B4-BE49-F238E27FC236}">
                <a16:creationId xmlns:a16="http://schemas.microsoft.com/office/drawing/2014/main" id="{6B60AEE3-3140-4590-8817-14B2C5ACD35A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1210D3-51FA-1238-168F-3EE207A2DB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175" y="1190325"/>
            <a:ext cx="8720488" cy="517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57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20982-2CB0-9D2B-B5CD-7E913889E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rand-top-rule">
            <a:extLst>
              <a:ext uri="{FF2B5EF4-FFF2-40B4-BE49-F238E27FC236}">
                <a16:creationId xmlns:a16="http://schemas.microsoft.com/office/drawing/2014/main" id="{E6A2BCF0-BE59-EB82-03E3-EFE4E6DDE9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9AB5E8-9D88-BED1-6EAF-350B53063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50F6B3-8E24-DFB2-BD80-8A871EA55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01263B4F-A3F4-2EA1-27F4-027A30D10E54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Finite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S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tate 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D</a:t>
            </a:r>
            <a:r>
              <a:rPr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iagram</a:t>
            </a:r>
            <a:r>
              <a:rPr lang="en-US" sz="2700" b="1" dirty="0">
                <a:solidFill>
                  <a:srgbClr val="F4F5F6"/>
                </a:solidFill>
                <a:latin typeface="Arial"/>
                <a:ea typeface="Arial"/>
                <a:cs typeface="Arial"/>
              </a:rPr>
              <a:t>- Login Level 1</a:t>
            </a:r>
            <a:endParaRPr sz="2700" b="1" dirty="0">
              <a:solidFill>
                <a:srgbClr val="F4F5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footer-rule-16">
            <a:extLst>
              <a:ext uri="{FF2B5EF4-FFF2-40B4-BE49-F238E27FC236}">
                <a16:creationId xmlns:a16="http://schemas.microsoft.com/office/drawing/2014/main" id="{5C4542AE-5DBE-D568-E45B-8E00B6C6088A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ooter-16">
            <a:extLst>
              <a:ext uri="{FF2B5EF4-FFF2-40B4-BE49-F238E27FC236}">
                <a16:creationId xmlns:a16="http://schemas.microsoft.com/office/drawing/2014/main" id="{727FAB58-5345-E657-99DD-24652AC82068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A9815-6991-98A0-5B2B-62F11CBE1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7"/>
          <a:stretch>
            <a:fillRect/>
          </a:stretch>
        </p:blipFill>
        <p:spPr>
          <a:xfrm>
            <a:off x="1448553" y="964569"/>
            <a:ext cx="9408744" cy="535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82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rand-top-rule">
            <a:extLst>
              <a:ext uri="{FF2B5EF4-FFF2-40B4-BE49-F238E27FC236}">
                <a16:creationId xmlns:a16="http://schemas.microsoft.com/office/drawing/2014/main" id="{D2FD3C2F-DB18-4766-9DED-BEBEEBB51C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6A0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550" y="142771"/>
            <a:ext cx="361950" cy="24785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63325" y="114300"/>
            <a:ext cx="400050" cy="40005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8699EE23-1CDF-49E3-B8B1-8FDE6E418C1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00" b="1">
                <a:solidFill>
                  <a:srgbClr val="F4F5F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5F6"/>
                </a:solidFill>
                <a:latin typeface="Arial"/>
                <a:ea typeface="Arial"/>
                <a:cs typeface="Arial"/>
              </a:rPr>
              <a:t>Testing evidence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476250" y="1619250"/>
          <a:ext cx="11239500" cy="4190998"/>
        </p:xfrm>
        <a:graphic>
          <a:graphicData uri="http://schemas.openxmlformats.org/drawingml/2006/table">
            <a:tbl>
              <a:tblPr firstRow="1" band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3F4F5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dirty="0">
                          <a:solidFill>
                            <a:srgbClr val="F3F4F5"/>
                          </a:solidFill>
                          <a:latin typeface="Arial"/>
                          <a:ea typeface="Arial"/>
                          <a:cs typeface="Arial"/>
                        </a:rPr>
                        <a:t>Expected result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3F4F5"/>
                          </a:solidFill>
                          <a:latin typeface="Arial"/>
                          <a:ea typeface="Arial"/>
                          <a:cs typeface="Arial"/>
                        </a:rPr>
                        <a:t>Actual result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 dirty="0">
                          <a:solidFill>
                            <a:srgbClr val="F3F4F5"/>
                          </a:solidFill>
                          <a:latin typeface="Arial"/>
                          <a:ea typeface="Arial"/>
                          <a:cs typeface="Arial"/>
                        </a:rPr>
                        <a:t>Outcome / defect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Valid account creation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Account flow completes with accepted details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Record live result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Invalid account input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Clear validation; no invalid submission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Record live result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Login / biometric path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Correct success or retry response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Record live result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Hide / show balance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Balance visibility changes as expected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Record live result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Payment review / cancel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Review shown; cancel returns safely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Record live result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15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Reset password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User receives reset guidance / completes flow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Record live result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dirty="0">
                          <a:solidFill>
                            <a:srgbClr val="E5E7E9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111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footer-rule-18">
            <a:extLst>
              <a:ext uri="{FF2B5EF4-FFF2-40B4-BE49-F238E27FC236}">
                <a16:creationId xmlns:a16="http://schemas.microsoft.com/office/drawing/2014/main" id="{EA6851EA-E962-4AE4-A46D-C68E106CCE98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11049000" cy="0"/>
          </a:xfrm>
          <a:prstGeom prst="line">
            <a:avLst/>
          </a:prstGeom>
          <a:noFill/>
          <a:ln w="9525">
            <a:solidFill>
              <a:srgbClr val="3438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ooter-18">
            <a:extLst>
              <a:ext uri="{FF2B5EF4-FFF2-40B4-BE49-F238E27FC236}">
                <a16:creationId xmlns:a16="http://schemas.microsoft.com/office/drawing/2014/main" id="{EAE32094-64EC-4D16-940B-60170E78F72D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838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88" lnSpcReduction="10000"/>
          </a:bodyPr>
          <a:lstStyle/>
          <a:p>
            <a:pPr algn="l">
              <a:defRPr sz="825" b="0">
                <a:solidFill>
                  <a:srgbClr val="A8AFB6"/>
                </a:solidFill>
                <a:latin typeface="Arial"/>
                <a:ea typeface="Arial"/>
                <a:cs typeface="Arial"/>
              </a:defRPr>
            </a:pPr>
            <a:r>
              <a:rPr sz="825" b="0" dirty="0">
                <a:solidFill>
                  <a:srgbClr val="A8AFB6"/>
                </a:solidFill>
                <a:latin typeface="Arial"/>
                <a:ea typeface="Arial"/>
                <a:cs typeface="Arial"/>
              </a:rPr>
              <a:t>PayPause  •  A breath before it’s gone.</a:t>
            </a:r>
          </a:p>
        </p:txBody>
      </p:sp>
    </p:spTree>
    <p:extLst>
      <p:ext uri="{BB962C8B-B14F-4D97-AF65-F5344CB8AC3E}">
        <p14:creationId xmlns:p14="http://schemas.microsoft.com/office/powerpoint/2010/main" val="555050805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</TotalTime>
  <Words>852</Words>
  <Application>Microsoft Office PowerPoint</Application>
  <PresentationFormat>Widescreen</PresentationFormat>
  <Paragraphs>143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Nova Light</vt:lpstr>
      <vt:lpstr>Calibri</vt:lpstr>
      <vt:lpstr>Cambria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charanbeemara81819@gmail.com</dc:creator>
  <cp:lastModifiedBy>charanbeemara81819@gmail.com</cp:lastModifiedBy>
  <cp:revision>1</cp:revision>
  <dcterms:created xsi:type="dcterms:W3CDTF">2026-10-23T15:37:47Z</dcterms:created>
  <dcterms:modified xsi:type="dcterms:W3CDTF">2026-10-23T15:40:22Z</dcterms:modified>
</cp:coreProperties>
</file>